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alredpanda7@gmail.com" userId="750469008c401d79" providerId="LiveId" clId="{33EAD201-8630-4F0B-AC45-C8E1E2E888C9}"/>
    <pc:docChg chg="undo custSel delSld modSld">
      <pc:chgData name="realredpanda7@gmail.com" userId="750469008c401d79" providerId="LiveId" clId="{33EAD201-8630-4F0B-AC45-C8E1E2E888C9}" dt="2026-09-17T21:00:29.773" v="442" actId="14100"/>
      <pc:docMkLst>
        <pc:docMk/>
      </pc:docMkLst>
      <pc:sldChg chg="delSp modSp mod">
        <pc:chgData name="realredpanda7@gmail.com" userId="750469008c401d79" providerId="LiveId" clId="{33EAD201-8630-4F0B-AC45-C8E1E2E888C9}" dt="2026-09-17T21:00:29.773" v="442" actId="14100"/>
        <pc:sldMkLst>
          <pc:docMk/>
          <pc:sldMk cId="0" sldId="256"/>
        </pc:sldMkLst>
        <pc:spChg chg="mod">
          <ac:chgData name="realredpanda7@gmail.com" userId="750469008c401d79" providerId="LiveId" clId="{33EAD201-8630-4F0B-AC45-C8E1E2E888C9}" dt="2026-09-17T20:37:45.375" v="192" actId="1076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realredpanda7@gmail.com" userId="750469008c401d79" providerId="LiveId" clId="{33EAD201-8630-4F0B-AC45-C8E1E2E888C9}" dt="2026-09-17T20:31:37.256" v="191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realredpanda7@gmail.com" userId="750469008c401d79" providerId="LiveId" clId="{33EAD201-8630-4F0B-AC45-C8E1E2E888C9}" dt="2026-09-17T20:30:23.310" v="142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realredpanda7@gmail.com" userId="750469008c401d79" providerId="LiveId" clId="{33EAD201-8630-4F0B-AC45-C8E1E2E888C9}" dt="2026-09-17T20:31:09.419" v="160" actId="20577"/>
          <ac:spMkLst>
            <pc:docMk/>
            <pc:sldMk cId="0" sldId="256"/>
            <ac:spMk id="7" creationId="{00000000-0000-0000-0000-000000000000}"/>
          </ac:spMkLst>
        </pc:spChg>
        <pc:spChg chg="del">
          <ac:chgData name="realredpanda7@gmail.com" userId="750469008c401d79" providerId="LiveId" clId="{33EAD201-8630-4F0B-AC45-C8E1E2E888C9}" dt="2026-09-17T20:31:27.637" v="165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realredpanda7@gmail.com" userId="750469008c401d79" providerId="LiveId" clId="{33EAD201-8630-4F0B-AC45-C8E1E2E888C9}" dt="2026-09-17T20:31:33.519" v="190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realredpanda7@gmail.com" userId="750469008c401d79" providerId="LiveId" clId="{33EAD201-8630-4F0B-AC45-C8E1E2E888C9}" dt="2026-09-17T20:58:59.698" v="437" actId="1410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realredpanda7@gmail.com" userId="750469008c401d79" providerId="LiveId" clId="{33EAD201-8630-4F0B-AC45-C8E1E2E888C9}" dt="2026-09-17T20:59:05.366" v="438" actId="1410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ealredpanda7@gmail.com" userId="750469008c401d79" providerId="LiveId" clId="{33EAD201-8630-4F0B-AC45-C8E1E2E888C9}" dt="2026-09-17T21:00:29.773" v="442" actId="14100"/>
          <ac:spMkLst>
            <pc:docMk/>
            <pc:sldMk cId="0" sldId="256"/>
            <ac:spMk id="15" creationId="{00000000-0000-0000-0000-000000000000}"/>
          </ac:spMkLst>
        </pc:spChg>
        <pc:picChg chg="del mod">
          <ac:chgData name="realredpanda7@gmail.com" userId="750469008c401d79" providerId="LiveId" clId="{33EAD201-8630-4F0B-AC45-C8E1E2E888C9}" dt="2026-09-17T20:30:44.187" v="148" actId="478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realredpanda7@gmail.com" userId="750469008c401d79" providerId="LiveId" clId="{33EAD201-8630-4F0B-AC45-C8E1E2E888C9}" dt="2026-09-17T20:58:38.625" v="436" actId="14100"/>
        <pc:sldMkLst>
          <pc:docMk/>
          <pc:sldMk cId="0" sldId="259"/>
        </pc:sldMkLst>
        <pc:spChg chg="mod">
          <ac:chgData name="realredpanda7@gmail.com" userId="750469008c401d79" providerId="LiveId" clId="{33EAD201-8630-4F0B-AC45-C8E1E2E888C9}" dt="2026-09-17T20:25:17.148" v="11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realredpanda7@gmail.com" userId="750469008c401d79" providerId="LiveId" clId="{33EAD201-8630-4F0B-AC45-C8E1E2E888C9}" dt="2026-09-17T20:24:44.273" v="7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ealredpanda7@gmail.com" userId="750469008c401d79" providerId="LiveId" clId="{33EAD201-8630-4F0B-AC45-C8E1E2E888C9}" dt="2026-09-17T20:58:38.625" v="436" actId="14100"/>
          <ac:spMkLst>
            <pc:docMk/>
            <pc:sldMk cId="0" sldId="259"/>
            <ac:spMk id="26" creationId="{00000000-0000-0000-0000-000000000000}"/>
          </ac:spMkLst>
        </pc:spChg>
        <pc:spChg chg="mod">
          <ac:chgData name="realredpanda7@gmail.com" userId="750469008c401d79" providerId="LiveId" clId="{33EAD201-8630-4F0B-AC45-C8E1E2E888C9}" dt="2026-09-17T20:25:36.389" v="137" actId="20577"/>
          <ac:spMkLst>
            <pc:docMk/>
            <pc:sldMk cId="0" sldId="259"/>
            <ac:spMk id="30" creationId="{00000000-0000-0000-0000-000000000000}"/>
          </ac:spMkLst>
        </pc:spChg>
      </pc:sldChg>
      <pc:sldChg chg="modSp mod">
        <pc:chgData name="realredpanda7@gmail.com" userId="750469008c401d79" providerId="LiveId" clId="{33EAD201-8630-4F0B-AC45-C8E1E2E888C9}" dt="2026-09-17T20:58:26.012" v="435" actId="20577"/>
        <pc:sldMkLst>
          <pc:docMk/>
          <pc:sldMk cId="0" sldId="260"/>
        </pc:sldMkLst>
        <pc:spChg chg="mod">
          <ac:chgData name="realredpanda7@gmail.com" userId="750469008c401d79" providerId="LiveId" clId="{33EAD201-8630-4F0B-AC45-C8E1E2E888C9}" dt="2026-09-17T20:58:26.012" v="435" actId="20577"/>
          <ac:spMkLst>
            <pc:docMk/>
            <pc:sldMk cId="0" sldId="260"/>
            <ac:spMk id="37" creationId="{00000000-0000-0000-0000-000000000000}"/>
          </ac:spMkLst>
        </pc:spChg>
      </pc:sldChg>
      <pc:sldChg chg="modSp mod">
        <pc:chgData name="realredpanda7@gmail.com" userId="750469008c401d79" providerId="LiveId" clId="{33EAD201-8630-4F0B-AC45-C8E1E2E888C9}" dt="2026-09-17T20:25:59.202" v="139" actId="20577"/>
        <pc:sldMkLst>
          <pc:docMk/>
          <pc:sldMk cId="0" sldId="261"/>
        </pc:sldMkLst>
        <pc:spChg chg="mod">
          <ac:chgData name="realredpanda7@gmail.com" userId="750469008c401d79" providerId="LiveId" clId="{33EAD201-8630-4F0B-AC45-C8E1E2E888C9}" dt="2026-09-17T20:25:59.202" v="139" actId="20577"/>
          <ac:spMkLst>
            <pc:docMk/>
            <pc:sldMk cId="0" sldId="261"/>
            <ac:spMk id="21" creationId="{00000000-0000-0000-0000-000000000000}"/>
          </ac:spMkLst>
        </pc:spChg>
      </pc:sldChg>
      <pc:sldChg chg="modSp mod">
        <pc:chgData name="realredpanda7@gmail.com" userId="750469008c401d79" providerId="LiveId" clId="{33EAD201-8630-4F0B-AC45-C8E1E2E888C9}" dt="2026-09-17T20:59:51.670" v="439" actId="6549"/>
        <pc:sldMkLst>
          <pc:docMk/>
          <pc:sldMk cId="0" sldId="265"/>
        </pc:sldMkLst>
        <pc:spChg chg="mod">
          <ac:chgData name="realredpanda7@gmail.com" userId="750469008c401d79" providerId="LiveId" clId="{33EAD201-8630-4F0B-AC45-C8E1E2E888C9}" dt="2026-09-17T20:59:51.670" v="439" actId="6549"/>
          <ac:spMkLst>
            <pc:docMk/>
            <pc:sldMk cId="0" sldId="265"/>
            <ac:spMk id="31" creationId="{00000000-0000-0000-0000-000000000000}"/>
          </ac:spMkLst>
        </pc:spChg>
      </pc:sldChg>
      <pc:sldChg chg="delSp del mod">
        <pc:chgData name="realredpanda7@gmail.com" userId="750469008c401d79" providerId="LiveId" clId="{33EAD201-8630-4F0B-AC45-C8E1E2E888C9}" dt="2026-09-17T20:58:07.362" v="317" actId="47"/>
        <pc:sldMkLst>
          <pc:docMk/>
          <pc:sldMk cId="0" sldId="266"/>
        </pc:sldMkLst>
        <pc:spChg chg="del">
          <ac:chgData name="realredpanda7@gmail.com" userId="750469008c401d79" providerId="LiveId" clId="{33EAD201-8630-4F0B-AC45-C8E1E2E888C9}" dt="2026-09-17T20:57:54.698" v="316" actId="478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realredpanda7@gmail.com" userId="750469008c401d79" providerId="LiveId" clId="{33EAD201-8630-4F0B-AC45-C8E1E2E888C9}" dt="2026-09-17T20:45:28.548" v="315" actId="20577"/>
        <pc:sldMkLst>
          <pc:docMk/>
          <pc:sldMk cId="0" sldId="267"/>
        </pc:sldMkLst>
        <pc:spChg chg="mod">
          <ac:chgData name="realredpanda7@gmail.com" userId="750469008c401d79" providerId="LiveId" clId="{33EAD201-8630-4F0B-AC45-C8E1E2E888C9}" dt="2026-09-17T20:45:04.510" v="203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realredpanda7@gmail.com" userId="750469008c401d79" providerId="LiveId" clId="{33EAD201-8630-4F0B-AC45-C8E1E2E888C9}" dt="2026-09-17T20:44:56.579" v="199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realredpanda7@gmail.com" userId="750469008c401d79" providerId="LiveId" clId="{33EAD201-8630-4F0B-AC45-C8E1E2E888C9}" dt="2026-09-17T20:45:28.548" v="315" actId="20577"/>
          <ac:spMkLst>
            <pc:docMk/>
            <pc:sldMk cId="0" sldId="267"/>
            <ac:spMk id="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7D0-4151-A56B-DB74DC986B9A}"/>
              </c:ext>
            </c:extLst>
          </c:dPt>
          <c:dPt>
            <c:idx val="1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D0-4151-A56B-DB74DC986B9A}"/>
              </c:ext>
            </c:extLst>
          </c:dPt>
          <c:dPt>
            <c:idx val="2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D0-4151-A56B-DB74DC986B9A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D0-4151-A56B-DB74DC986B9A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D0-4151-A56B-DB74DC986B9A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D0-4151-A56B-DB74DC986B9A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API validation</c:v>
                </c:pt>
                <c:pt idx="1">
                  <c:v>Regression</c:v>
                </c:pt>
                <c:pt idx="2">
                  <c:v>Chain integrity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27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D0-4151-A56B-DB74DC986B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8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 am Imran Khan. Our team built the Ephemeral Secret Sharing Vault - a blockchain-anchored system for safe secret storage with threshold recovery and a dead man's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backup has two flaws: putting everything in one place, or giving full copies to everyone. Plus no guarantee the owner stays available, and no trustworthy record of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guarantee: threshold math — Shamir shares — means no one person, not even the server, can ever reconstruct the secret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 — presentation, application, blockchain, persistence — everything in a single Node.js process, no external infra.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Defense in depth: authenticated encryption, memory-hard hashing, timing-safe comparisons, rate limiting, session-only identity, ephemeral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highlight: create a vault, stop renewing, watch it expire into recovery, guardians submit shares, recipient sees the secret once — then prove it can't be recovered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audit backbone: SHA-256 proof of work, Merkle trees per block, per-block difficulty so old blocks stay valid, and a validate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tables. Key choice: semantic separation — cryptographic material lives apart from metadata, and deleting a vault cascades the crypto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79 + 4: 52 API validation, 27 regression, 4 chain-integrity. Biggest catches: blockchain validity, recovery state machine, renewal TTL, voting dedupe, supply-chain authorization, XSS.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architecture generalises from personal secrets to corporate, healthcare, legal, academic and logistics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the vault outlives its owner, unlocks by consensus, and erases itself after use. Thank you — we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0632" y="22860"/>
            <a:ext cx="12191695" cy="6858000"/>
          </a:xfrm>
          <a:prstGeom prst="rect">
            <a:avLst/>
          </a:prstGeom>
          <a:solidFill>
            <a:srgbClr val="0B1220">
              <a:alpha val="68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2"/>
          <p:cNvSpPr/>
          <p:nvPr/>
        </p:nvSpPr>
        <p:spPr>
          <a:xfrm>
            <a:off x="0" y="370332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5367528" y="86868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94436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292824"/>
            <a:ext cx="10728960" cy="3044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 TECHNOLOGY PROJECT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731520" y="39776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EPHEMERAL SECRET SHARING VAULT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731520" y="4892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5B4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Blockchain-based secure secret storage · threshold recovery · tamper-proof audit trail · dead man's switch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584448" y="5385816"/>
            <a:ext cx="5029200" cy="365760"/>
          </a:xfrm>
          <a:prstGeom prst="roundRect">
            <a:avLst>
              <a:gd name="adj" fmla="val 147059"/>
            </a:avLst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3584448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TYCS24 Imran Khan  ·  TYCS29 Danish Lakhani  ·  TYCS38 Shubham Rathod  ·  TYCS44 Mohd Muzzamil Shaikh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5943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A2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B.Sc. Computer Science — Third Year · 2025–26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63000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by Ms. Shamaila Baloch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13716000" cy="8229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8229600" y="-1828800"/>
            <a:ext cx="7315200" cy="10058400"/>
          </a:xfrm>
          <a:prstGeom prst="rect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875520" y="-1828800"/>
            <a:ext cx="7315200" cy="10058400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512064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secrets are lost today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1463040" cy="64008"/>
          </a:xfrm>
          <a:prstGeom prst="roundRect">
            <a:avLst>
              <a:gd name="adj" fmla="val 714286"/>
            </a:avLst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2157984" y="1389888"/>
            <a:ext cx="548640" cy="64008"/>
          </a:xfrm>
          <a:prstGeom prst="roundRect">
            <a:avLst>
              <a:gd name="adj" fmla="val 714286"/>
            </a:avLst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830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783080"/>
            <a:ext cx="82296" cy="1783080"/>
          </a:xfrm>
          <a:prstGeom prst="roundRect">
            <a:avLst>
              <a:gd name="adj" fmla="val 555556"/>
            </a:avLst>
          </a:prstGeom>
          <a:solidFill>
            <a:srgbClr val="FB718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920240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point of failure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password manager, USB drive or cloud vault. Lost, destroyed or unreachable → the secret is gone forever.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783080"/>
            <a:ext cx="82296" cy="1783080"/>
          </a:xfrm>
          <a:prstGeom prst="roundRect">
            <a:avLst>
              <a:gd name="adj" fmla="val 555556"/>
            </a:avLst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920240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Naive sharing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Copying the secret to many people multiplies the attack surface — any ONE custodian has full access.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17830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783080"/>
            <a:ext cx="82296" cy="1783080"/>
          </a:xfrm>
          <a:prstGeom prst="roundRect">
            <a:avLst>
              <a:gd name="adj" fmla="val 555556"/>
            </a:avLst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920240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unavailable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Death, illness or lockout. No guarantee the owner will ever renew — nothing auto-releases to the right people.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749040"/>
            <a:ext cx="82296" cy="1783080"/>
          </a:xfrm>
          <a:prstGeom prst="roundRect">
            <a:avLst>
              <a:gd name="adj" fmla="val 555556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886200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audit trail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saw it, when, and what happened — all held in a database that anyone with access can quietly rewrite.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43400" y="37490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3749040"/>
            <a:ext cx="82296" cy="1783080"/>
          </a:xfrm>
          <a:prstGeom prst="roundRect">
            <a:avLst>
              <a:gd name="adj" fmla="val 555556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3886200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cannot be trusted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compromised server must never be able to reconstruct the whole secret on its own. Threshold = trust.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92440" y="37490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3749040"/>
            <a:ext cx="82296" cy="1783080"/>
          </a:xfrm>
          <a:prstGeom prst="roundRect">
            <a:avLst>
              <a:gd name="adj" fmla="val 555556"/>
            </a:avLst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3886200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 overload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 wallet keys, 2FA backup codes, master passwords, legal docs — the stakes keep rising.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9436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weakness: if any single component holds the full secret, security collapses with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13716000" cy="8229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8229600" y="-1828800"/>
            <a:ext cx="7315200" cy="10058400"/>
          </a:xfrm>
          <a:prstGeom prst="rect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875520" y="-1828800"/>
            <a:ext cx="7315200" cy="10058400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512064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Mathematics over trust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1463040" cy="64008"/>
          </a:xfrm>
          <a:prstGeom prst="roundRect">
            <a:avLst>
              <a:gd name="adj" fmla="val 714286"/>
            </a:avLst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2157984" y="1389888"/>
            <a:ext cx="548640" cy="64008"/>
          </a:xfrm>
          <a:prstGeom prst="roundRect">
            <a:avLst>
              <a:gd name="adj" fmla="val 714286"/>
            </a:avLst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7562088" y="1618488"/>
            <a:ext cx="4032504" cy="4855464"/>
          </a:xfrm>
          <a:prstGeom prst="roundRect">
            <a:avLst>
              <a:gd name="adj" fmla="val 3175"/>
            </a:avLst>
          </a:prstGeom>
          <a:solidFill>
            <a:srgbClr val="334155"/>
          </a:solidFill>
          <a:ln/>
        </p:spPr>
      </p:sp>
      <p:pic>
        <p:nvPicPr>
          <p:cNvPr id="11" name="Image 0" descr="C:\Users\IRSHAD\AppData\Local\Temp\opencode\pptimg\ar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91640"/>
            <a:ext cx="3886200" cy="4709160"/>
          </a:xfrm>
          <a:prstGeom prst="ellipse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35240" y="1691640"/>
            <a:ext cx="3886200" cy="4709160"/>
          </a:xfrm>
          <a:prstGeom prst="roundRect">
            <a:avLst>
              <a:gd name="adj" fmla="val 2824"/>
            </a:avLst>
          </a:prstGeom>
          <a:solidFill>
            <a:srgbClr val="6366F1">
              <a:alpha val="2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882128" y="2834640"/>
            <a:ext cx="3383280" cy="384048"/>
          </a:xfrm>
          <a:prstGeom prst="roundRect">
            <a:avLst>
              <a:gd name="adj" fmla="val 119048"/>
            </a:avLst>
          </a:prstGeom>
          <a:solidFill>
            <a:srgbClr val="0B1220">
              <a:alpha val="7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882128" y="28346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f(x)  ·  k-of-n threshold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" y="1691640"/>
            <a:ext cx="6858000" cy="1133856"/>
          </a:xfrm>
          <a:prstGeom prst="roundRect">
            <a:avLst>
              <a:gd name="adj" fmla="val 80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" y="1947672"/>
            <a:ext cx="621792" cy="621792"/>
          </a:xfrm>
          <a:prstGeom prst="roundRect">
            <a:avLst>
              <a:gd name="adj" fmla="val 73529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19476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600200" y="180136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Shamir Secret Sharing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600200" y="216712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into n shares — any k reconstruct it, fewer than k reveal NOTHING. Over GF(2³¹−1) with BigInt.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94360" y="2935224"/>
            <a:ext cx="6858000" cy="1133856"/>
          </a:xfrm>
          <a:prstGeom prst="roundRect">
            <a:avLst>
              <a:gd name="adj" fmla="val 80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4672" y="3191256"/>
            <a:ext cx="621792" cy="621792"/>
          </a:xfrm>
          <a:prstGeom prst="roundRect">
            <a:avLst>
              <a:gd name="adj" fmla="val 73529"/>
            </a:avLst>
          </a:prstGeom>
          <a:solidFill>
            <a:srgbClr val="22D3EE"/>
          </a:solidFill>
          <a:ln/>
        </p:spPr>
      </p:sp>
      <p:sp>
        <p:nvSpPr>
          <p:cNvPr id="22" name="Text 19"/>
          <p:cNvSpPr/>
          <p:nvPr/>
        </p:nvSpPr>
        <p:spPr>
          <a:xfrm>
            <a:off x="804672" y="319125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600200" y="304495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AES-256-GCM envelope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600200" y="341071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vault gets its own random data key, wrapped by a master key. Authenticated + tamper-proof.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4360" y="4178808"/>
            <a:ext cx="6858000" cy="1133856"/>
          </a:xfrm>
          <a:prstGeom prst="roundRect">
            <a:avLst>
              <a:gd name="adj" fmla="val 80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4672" y="4434840"/>
            <a:ext cx="621792" cy="621792"/>
          </a:xfrm>
          <a:prstGeom prst="roundRect">
            <a:avLst>
              <a:gd name="adj" fmla="val 73529"/>
            </a:avLst>
          </a:prstGeom>
          <a:solidFill>
            <a:srgbClr val="FBBF24"/>
          </a:solidFill>
          <a:ln/>
        </p:spPr>
      </p:sp>
      <p:sp>
        <p:nvSpPr>
          <p:cNvPr id="27" name="Text 24"/>
          <p:cNvSpPr/>
          <p:nvPr/>
        </p:nvSpPr>
        <p:spPr>
          <a:xfrm>
            <a:off x="804672" y="443484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600200" y="428853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 Man's Switch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600200" y="4654296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must renew before the TTL. Miss it → vault auto-enters RECOVERY_MODE with full notification.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94360" y="5422392"/>
            <a:ext cx="6858000" cy="1133856"/>
          </a:xfrm>
          <a:prstGeom prst="roundRect">
            <a:avLst>
              <a:gd name="adj" fmla="val 80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4672" y="5678424"/>
            <a:ext cx="621792" cy="621792"/>
          </a:xfrm>
          <a:prstGeom prst="roundRect">
            <a:avLst>
              <a:gd name="adj" fmla="val 73529"/>
            </a:avLst>
          </a:prstGeom>
          <a:solidFill>
            <a:srgbClr val="34D399"/>
          </a:solidFill>
          <a:ln/>
        </p:spPr>
      </p:sp>
      <p:sp>
        <p:nvSpPr>
          <p:cNvPr id="32" name="Text 29"/>
          <p:cNvSpPr/>
          <p:nvPr/>
        </p:nvSpPr>
        <p:spPr>
          <a:xfrm>
            <a:off x="804672" y="56784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600200" y="55321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 audit trail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1600200" y="58978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event mined into a SHA-256 PoW chain with Merkle integrity — immutable, verifiable.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68680" y="-476250"/>
            <a:ext cx="13716000" cy="8229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8229600" y="-1828800"/>
            <a:ext cx="7315200" cy="10058400"/>
          </a:xfrm>
          <a:prstGeom prst="rect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875520" y="-1828800"/>
            <a:ext cx="7315200" cy="10058400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512064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layers, one process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1463040" cy="64008"/>
          </a:xfrm>
          <a:prstGeom prst="roundRect">
            <a:avLst>
              <a:gd name="adj" fmla="val 714286"/>
            </a:avLst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2157984" y="1389888"/>
            <a:ext cx="548640" cy="64008"/>
          </a:xfrm>
          <a:prstGeom prst="roundRect">
            <a:avLst>
              <a:gd name="adj" fmla="val 714286"/>
            </a:avLst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1783080"/>
            <a:ext cx="6766560" cy="1060704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783080"/>
            <a:ext cx="6766560" cy="1060704"/>
          </a:xfrm>
          <a:prstGeom prst="roundRect">
            <a:avLst>
              <a:gd name="adj" fmla="val 10345"/>
            </a:avLst>
          </a:prstGeom>
          <a:solidFill>
            <a:srgbClr val="6366F1">
              <a:alpha val="7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192938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71800" y="229514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9+ web pages · wizard UI · recovery console · explorers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78408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· CSS · JS · Fetch 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0" y="2971800"/>
            <a:ext cx="6766560" cy="1060704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971800"/>
            <a:ext cx="5401876" cy="1060704"/>
          </a:xfrm>
          <a:prstGeom prst="roundRect">
            <a:avLst>
              <a:gd name="adj" fmla="val 10345"/>
            </a:avLst>
          </a:prstGeom>
          <a:solidFill>
            <a:srgbClr val="8B5CF6">
              <a:alpha val="7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971800" y="3118104"/>
            <a:ext cx="4944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971800" y="348386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Controllers · services · JWT middleware · scoped routing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8408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(ESM) · Express 4.18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0" y="4160520"/>
            <a:ext cx="6766560" cy="1060704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4160520"/>
            <a:ext cx="4037191" cy="1060704"/>
          </a:xfrm>
          <a:prstGeom prst="roundRect">
            <a:avLst>
              <a:gd name="adj" fmla="val 10345"/>
            </a:avLst>
          </a:prstGeom>
          <a:solidFill>
            <a:srgbClr val="22D3EE">
              <a:alpha val="7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971800" y="4306824"/>
            <a:ext cx="357999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971800" y="467258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SHA-256 PoW chain · Merkle trees · 13 tx types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784080" y="4480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 · Solidity · Web3.js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0" y="5349240"/>
            <a:ext cx="6766560" cy="1060704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6156" y="5349240"/>
            <a:ext cx="4031600" cy="1060704"/>
          </a:xfrm>
          <a:prstGeom prst="roundRect">
            <a:avLst>
              <a:gd name="adj" fmla="val 10345"/>
            </a:avLst>
          </a:prstGeom>
          <a:solidFill>
            <a:srgbClr val="34D399">
              <a:alpha val="7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971800" y="5495544"/>
            <a:ext cx="221530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971800" y="586130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WAL · embedded · JSON ledger (blockchain.json)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784080" y="5669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better-sqlite3 · fs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 rot="17206774">
            <a:off x="59436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13716000" cy="8229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8229600" y="-1828800"/>
            <a:ext cx="7315200" cy="10058400"/>
          </a:xfrm>
          <a:prstGeom prst="rect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875520" y="-1828800"/>
            <a:ext cx="7315200" cy="10058400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512064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DEFENSE IN DEPTH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stack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1463040" cy="64008"/>
          </a:xfrm>
          <a:prstGeom prst="roundRect">
            <a:avLst>
              <a:gd name="adj" fmla="val 714286"/>
            </a:avLst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2157984" y="1389888"/>
            <a:ext cx="548640" cy="64008"/>
          </a:xfrm>
          <a:prstGeom prst="roundRect">
            <a:avLst>
              <a:gd name="adj" fmla="val 714286"/>
            </a:avLst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8156448" y="1618488"/>
            <a:ext cx="3438144" cy="4764024"/>
          </a:xfrm>
          <a:prstGeom prst="roundRect">
            <a:avLst>
              <a:gd name="adj" fmla="val 3723"/>
            </a:avLst>
          </a:prstGeom>
          <a:solidFill>
            <a:srgbClr val="334155"/>
          </a:solidFill>
          <a:ln/>
        </p:spPr>
      </p:sp>
      <p:pic>
        <p:nvPicPr>
          <p:cNvPr id="11" name="Image 0" descr="C:\Users\IRSHAD\AppData\Local\Temp\opencode\pptimg\secur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691640"/>
            <a:ext cx="3291840" cy="4617720"/>
          </a:xfrm>
          <a:prstGeom prst="ellipse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0" y="1691640"/>
            <a:ext cx="3291840" cy="4617720"/>
          </a:xfrm>
          <a:prstGeom prst="roundRect">
            <a:avLst>
              <a:gd name="adj" fmla="val 3333"/>
            </a:avLst>
          </a:prstGeom>
          <a:solidFill>
            <a:srgbClr val="6366F1">
              <a:alpha val="2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94360" y="1783080"/>
            <a:ext cx="370332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1783080"/>
            <a:ext cx="82296" cy="1234440"/>
          </a:xfrm>
          <a:prstGeom prst="roundRect">
            <a:avLst>
              <a:gd name="adj" fmla="val 555556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192024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AES-256-GCM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Authenticated encryption + envelope key wrapping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407408" y="1783080"/>
            <a:ext cx="370332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07408" y="1783080"/>
            <a:ext cx="82296" cy="1234440"/>
          </a:xfrm>
          <a:prstGeom prst="roundRect">
            <a:avLst>
              <a:gd name="adj" fmla="val 555556"/>
            </a:avLst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4681728" y="192024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scrypt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Memory-hard password hashing (N=16384)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94360" y="3154680"/>
            <a:ext cx="370332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360" y="3154680"/>
            <a:ext cx="82296" cy="1234440"/>
          </a:xfrm>
          <a:prstGeom prst="roundRect">
            <a:avLst>
              <a:gd name="adj" fmla="val 555556"/>
            </a:avLst>
          </a:prstGeom>
          <a:solidFill>
            <a:srgbClr val="22D3EE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329184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HS256 JWT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Constant-time signature verification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407408" y="3154680"/>
            <a:ext cx="370332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07408" y="3154680"/>
            <a:ext cx="82296" cy="1234440"/>
          </a:xfrm>
          <a:prstGeom prst="roundRect">
            <a:avLst>
              <a:gd name="adj" fmla="val 555556"/>
            </a:avLst>
          </a:prstGeom>
          <a:solidFill>
            <a:srgbClr val="34D399"/>
          </a:solidFill>
          <a:ln/>
        </p:spPr>
      </p:sp>
      <p:sp>
        <p:nvSpPr>
          <p:cNvPr id="24" name="Text 21"/>
          <p:cNvSpPr/>
          <p:nvPr/>
        </p:nvSpPr>
        <p:spPr>
          <a:xfrm>
            <a:off x="4681728" y="329184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Timing-safe login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Dummy hashes — no username enumeration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94360" y="4526280"/>
            <a:ext cx="370332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4526280"/>
            <a:ext cx="82296" cy="1234440"/>
          </a:xfrm>
          <a:prstGeom prst="roundRect">
            <a:avLst>
              <a:gd name="adj" fmla="val 555556"/>
            </a:avLst>
          </a:prstGeom>
          <a:solidFill>
            <a:srgbClr val="FBBF24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466344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limiting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Exponential backoff 5s → 15 min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407408" y="4526280"/>
            <a:ext cx="370332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07408" y="4526280"/>
            <a:ext cx="82296" cy="1234440"/>
          </a:xfrm>
          <a:prstGeom prst="roundRect">
            <a:avLst>
              <a:gd name="adj" fmla="val 555556"/>
            </a:avLst>
          </a:prstGeom>
          <a:solidFill>
            <a:srgbClr val="FB7185"/>
          </a:solidFill>
          <a:ln/>
        </p:spPr>
      </p:sp>
      <p:sp>
        <p:nvSpPr>
          <p:cNvPr id="30" name="Text 27"/>
          <p:cNvSpPr/>
          <p:nvPr/>
        </p:nvSpPr>
        <p:spPr>
          <a:xfrm>
            <a:off x="4681728" y="466344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identity only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Client-supplied ownerId / from / actor never trusted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594360" y="5897880"/>
            <a:ext cx="370332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" y="5897880"/>
            <a:ext cx="82296" cy="1234440"/>
          </a:xfrm>
          <a:prstGeom prst="roundRect">
            <a:avLst>
              <a:gd name="adj" fmla="val 555556"/>
            </a:avLst>
          </a:prstGeom>
          <a:solidFill>
            <a:srgbClr val="6366F1"/>
          </a:solidFill>
          <a:ln/>
        </p:spPr>
      </p:sp>
      <p:sp>
        <p:nvSpPr>
          <p:cNvPr id="33" name="Text 30"/>
          <p:cNvSpPr/>
          <p:nvPr/>
        </p:nvSpPr>
        <p:spPr>
          <a:xfrm>
            <a:off x="868680" y="603504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One-time shares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consumed on first read, then deleted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4407408" y="5897880"/>
            <a:ext cx="370332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07408" y="5897880"/>
            <a:ext cx="82296" cy="1234440"/>
          </a:xfrm>
          <a:prstGeom prst="roundRect">
            <a:avLst>
              <a:gd name="adj" fmla="val 555556"/>
            </a:avLst>
          </a:prstGeom>
          <a:solidFill>
            <a:srgbClr val="34D399"/>
          </a:solidFill>
          <a:ln/>
        </p:spPr>
      </p:sp>
      <p:sp>
        <p:nvSpPr>
          <p:cNvPr id="36" name="Text 33"/>
          <p:cNvSpPr/>
          <p:nvPr/>
        </p:nvSpPr>
        <p:spPr>
          <a:xfrm>
            <a:off x="4681728" y="603504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Ephemeral seal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crypto destroyed after recovery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594360" y="59436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13716000" cy="8229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8229600" y="-1828800"/>
            <a:ext cx="7315200" cy="10058400"/>
          </a:xfrm>
          <a:prstGeom prst="rect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875520" y="-1828800"/>
            <a:ext cx="7315200" cy="10058400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512064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KILLER FEATURE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 Man's Switch → Recovery flow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1463040" cy="64008"/>
          </a:xfrm>
          <a:prstGeom prst="roundRect">
            <a:avLst>
              <a:gd name="adj" fmla="val 714286"/>
            </a:avLst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2157984" y="1389888"/>
            <a:ext cx="548640" cy="64008"/>
          </a:xfrm>
          <a:prstGeom prst="roundRect">
            <a:avLst>
              <a:gd name="adj" fmla="val 714286"/>
            </a:avLst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85623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" y="2313432"/>
            <a:ext cx="0" cy="82296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1783080"/>
            <a:ext cx="5577840" cy="621792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1874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044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renews before TTL — vault stays private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" y="3063240"/>
            <a:ext cx="0" cy="82296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2532888"/>
            <a:ext cx="5577840" cy="621792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26243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Expiry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20440" y="26243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fires every 30s ; owner absent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355848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" y="3813048"/>
            <a:ext cx="0" cy="82296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3282696"/>
            <a:ext cx="5577840" cy="621792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37413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mode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520440" y="33741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VAULT_EXPIRED + RECOVERY_STARTED mined on-chain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105656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0392" y="4562856"/>
            <a:ext cx="0" cy="82296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4032504"/>
            <a:ext cx="5577840" cy="621792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412394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Shares in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20440" y="41239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Guardians submit one-time shares (SHA-256 verified)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855464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50392" y="5312664"/>
            <a:ext cx="0" cy="82296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80160" y="4782312"/>
            <a:ext cx="5577840" cy="621792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487375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Reveal once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520440" y="48737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 met → secret reconstructed &amp; shown once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5605272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605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280160" y="5532120"/>
            <a:ext cx="5577840" cy="621792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08760" y="562356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Destroyed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3520440" y="5623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Ephemeral seal wipes all crypto material forever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287768" y="1847088"/>
            <a:ext cx="4306824" cy="3803904"/>
          </a:xfrm>
          <a:prstGeom prst="roundRect">
            <a:avLst>
              <a:gd name="adj" fmla="val 3365"/>
            </a:avLst>
          </a:prstGeom>
          <a:solidFill>
            <a:srgbClr val="334155"/>
          </a:solidFill>
          <a:ln/>
        </p:spPr>
      </p:sp>
      <p:pic>
        <p:nvPicPr>
          <p:cNvPr id="46" name="Image 0" descr="C:\Users\IRSHAD\AppData\Local\Temp\opencode\pptimg\secur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920240"/>
            <a:ext cx="4160520" cy="3657600"/>
          </a:xfrm>
          <a:prstGeom prst="ellipse">
            <a:avLst/>
          </a:prstGeom>
        </p:spPr>
      </p:pic>
      <p:sp>
        <p:nvSpPr>
          <p:cNvPr id="47" name="Shape 44"/>
          <p:cNvSpPr/>
          <p:nvPr/>
        </p:nvSpPr>
        <p:spPr>
          <a:xfrm>
            <a:off x="7360920" y="1920240"/>
            <a:ext cx="4160520" cy="3657600"/>
          </a:xfrm>
          <a:prstGeom prst="roundRect">
            <a:avLst>
              <a:gd name="adj" fmla="val 3000"/>
            </a:avLst>
          </a:prstGeom>
          <a:solidFill>
            <a:srgbClr val="6366F1">
              <a:alpha val="22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589520" y="2240280"/>
            <a:ext cx="3703320" cy="3017520"/>
          </a:xfrm>
          <a:prstGeom prst="roundRect">
            <a:avLst>
              <a:gd name="adj" fmla="val 3636"/>
            </a:avLst>
          </a:prstGeom>
          <a:solidFill>
            <a:srgbClr val="0B1220">
              <a:alpha val="70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7818120" y="2468880"/>
            <a:ext cx="3246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2-of-3 threshold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 alone reveals nothing — only the ceremony of cooperating guardians opens the vault.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secret is shown exactly once.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it can never be reconstructed again.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13716000" cy="8229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8229600" y="-1828800"/>
            <a:ext cx="7315200" cy="10058400"/>
          </a:xfrm>
          <a:prstGeom prst="rect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875520" y="-1828800"/>
            <a:ext cx="7315200" cy="10058400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512064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AUDIT TRAIL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Proof-of-Work blockchain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1463040" cy="64008"/>
          </a:xfrm>
          <a:prstGeom prst="roundRect">
            <a:avLst>
              <a:gd name="adj" fmla="val 714286"/>
            </a:avLst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2157984" y="1389888"/>
            <a:ext cx="548640" cy="64008"/>
          </a:xfrm>
          <a:prstGeom prst="roundRect">
            <a:avLst>
              <a:gd name="adj" fmla="val 714286"/>
            </a:avLst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83080"/>
            <a:ext cx="2029968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783080"/>
            <a:ext cx="2029968" cy="914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38528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GENESIS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228600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24328" y="2240280"/>
            <a:ext cx="256032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1783080"/>
            <a:ext cx="2029968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1783080"/>
            <a:ext cx="2029968" cy="914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1938528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17520" y="228600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VAULT_CREATED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10328" y="2240280"/>
            <a:ext cx="256032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1783080"/>
            <a:ext cx="2029968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66360" y="1783080"/>
            <a:ext cx="2029968" cy="914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938528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03520" y="228600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RENEWED · EXPIRED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96328" y="2240280"/>
            <a:ext cx="256032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1783080"/>
            <a:ext cx="2029968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1783080"/>
            <a:ext cx="2029968" cy="914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1938528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89520" y="228600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SHARES · COMPLETED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82328" y="2240280"/>
            <a:ext cx="256032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38360" y="1783080"/>
            <a:ext cx="2029968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38360" y="1783080"/>
            <a:ext cx="2029968" cy="9144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32" name="Text 30"/>
          <p:cNvSpPr/>
          <p:nvPr/>
        </p:nvSpPr>
        <p:spPr>
          <a:xfrm>
            <a:off x="9875520" y="1938528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875520" y="228600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 13 tx types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" y="30632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Genesis→Block 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3520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Chained by previousHash — altering history is detectable immediately.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01568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Merkle tree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01568" y="3520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transaction changed → root changed → chain flagged INVALID.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98932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 mining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989320" y="3520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Difficulty 4, adjustable 1–8. ~65k hashes per block.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577072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transaction types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77072" y="3520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VAULT_CREATED · RENEWED · EXPIRED · RECOVERY_* · SHARE_* · DOC/SUPPLY/VOTE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4360" y="4709160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0B1220">
              <a:alpha val="60000"/>
            </a:srgbClr>
          </a:solidFill>
          <a:ln w="12700">
            <a:solidFill>
              <a:srgbClr val="2E4B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892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blockchain is the project's memory — every vault lifecycle event is permanently, verifiably recorded.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22960" y="528523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/api/blockchain/validate  →  every hash and Merkle root rebuilt from scratch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13716000" cy="8229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8229600" y="-1828800"/>
            <a:ext cx="7315200" cy="10058400"/>
          </a:xfrm>
          <a:prstGeom prst="rect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875520" y="-1828800"/>
            <a:ext cx="7315200" cy="10058400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512064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 — SQLite (WAL)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1463040" cy="64008"/>
          </a:xfrm>
          <a:prstGeom prst="roundRect">
            <a:avLst>
              <a:gd name="adj" fmla="val 714286"/>
            </a:avLst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2157984" y="1389888"/>
            <a:ext cx="548640" cy="64008"/>
          </a:xfrm>
          <a:prstGeom prst="roundRect">
            <a:avLst>
              <a:gd name="adj" fmla="val 714286"/>
            </a:avLst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37360"/>
            <a:ext cx="6675120" cy="41148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2E4B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74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backend/database/sqlite.js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6217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vault_crypto (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vaultId   INTEGER PRIMARY KEY,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prime, chunkLengths, encryptedSecret,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(vaultId) REFERENCES vaults(id)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CASCADE);   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-- 9 tables: users vaults vault_crypto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guardians recoveries notifications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documents supply_chain voting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metadata never stored beside crypto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v.id  → crypto destroyed atomically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52360" y="1737360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1737360"/>
            <a:ext cx="82296" cy="960120"/>
          </a:xfrm>
          <a:prstGeom prst="roundRect">
            <a:avLst>
              <a:gd name="adj" fmla="val 555556"/>
            </a:avLst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187452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crypto table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vault_crypto is separate from vaults — metadata queries never touch key material.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52360" y="2816352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2816352"/>
            <a:ext cx="82296" cy="960120"/>
          </a:xfrm>
          <a:prstGeom prst="roundRect">
            <a:avLst>
              <a:gd name="adj" fmla="val 555556"/>
            </a:avLst>
          </a:prstGeom>
          <a:solidFill>
            <a:srgbClr val="FB7185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295351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CASCADE destroys data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Deleting a vault atomically deletes its ciphertext, shares and recovery records.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52360" y="3895344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3895344"/>
            <a:ext cx="82296" cy="960120"/>
          </a:xfrm>
          <a:prstGeom prst="roundRect">
            <a:avLst>
              <a:gd name="adj" fmla="val 555556"/>
            </a:avLst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4032504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 journal mode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Concurrent reads during writes; microsecond synchronous queries via better-sqlite3.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52360" y="4974336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4974336"/>
            <a:ext cx="82296" cy="960120"/>
          </a:xfrm>
          <a:prstGeom prst="roundRect">
            <a:avLst>
              <a:gd name="adj" fmla="val 555556"/>
            </a:avLst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5111496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commitments only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Guardians table stores the SHA-256 digest, never the plaintext share.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52360" y="56235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Foreign-key integrity enforced — no orphaned secrets, ever.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13716000" cy="8229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8229600" y="-1828800"/>
            <a:ext cx="7315200" cy="10058400"/>
          </a:xfrm>
          <a:prstGeom prst="rect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875520" y="-1828800"/>
            <a:ext cx="7315200" cy="10058400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512064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 automated tests — all passing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1463040" cy="64008"/>
          </a:xfrm>
          <a:prstGeom prst="roundRect">
            <a:avLst>
              <a:gd name="adj" fmla="val 714286"/>
            </a:avLst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2157984" y="1389888"/>
            <a:ext cx="548640" cy="64008"/>
          </a:xfrm>
          <a:prstGeom prst="roundRect">
            <a:avLst>
              <a:gd name="adj" fmla="val 714286"/>
            </a:avLst>
          </a:prstGeom>
          <a:solidFill>
            <a:srgbClr val="22D3EE"/>
          </a:solidFill>
          <a:ln/>
        </p:spPr>
      </p:sp>
      <p:graphicFrame>
        <p:nvGraphicFramePr>
          <p:cNvPr id="10" name="Chart 0"/>
          <p:cNvGraphicFramePr/>
          <p:nvPr/>
        </p:nvGraphicFramePr>
        <p:xfrm>
          <a:off x="594360" y="1828800"/>
          <a:ext cx="47548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594360" y="5806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</a:t>
            </a: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API validation  ·  </a:t>
            </a:r>
            <a:r>
              <a:rPr lang="en-US" sz="17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regression  ·  </a:t>
            </a:r>
            <a:r>
              <a:rPr lang="en-US" sz="17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chain integrity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623560" y="1783080"/>
            <a:ext cx="5989320" cy="603504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192938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0920" y="19293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difficulty wrongly used — old blocks failed validation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23560" y="2478024"/>
            <a:ext cx="5989320" cy="603504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26243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60920" y="26243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Shares could hit a live vault; double-complete → 500 crash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23560" y="3172968"/>
            <a:ext cx="5989320" cy="603504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331927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Renewal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60920" y="33192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Renew reset TTL to default 2 min, not the vault's own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23560" y="3867912"/>
            <a:ext cx="5989320" cy="603504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401421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Voting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60920" y="401421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 A'/'A ' passed duplicate check before trimming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623560" y="4562856"/>
            <a:ext cx="5989320" cy="603504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470916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360920" y="47091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Non-custodian could transfer; 'from' forged in body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623560" y="5257800"/>
            <a:ext cx="5989320" cy="603504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540410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360920" y="540410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 from unescaped input — added esc() sanitizer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623560" y="5998464"/>
            <a:ext cx="5989320" cy="548640"/>
          </a:xfrm>
          <a:prstGeom prst="roundRect">
            <a:avLst>
              <a:gd name="adj" fmla="val 16667"/>
            </a:avLst>
          </a:prstGeom>
          <a:solidFill>
            <a:srgbClr val="0B1220">
              <a:alpha val="60000"/>
            </a:srgbClr>
          </a:solidFill>
          <a:ln w="12700">
            <a:solidFill>
              <a:srgbClr val="2E4B6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6089904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 by testing the boundaries — not the happy path. Every fix has a regression test.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13716000" cy="8229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8229600" y="-1828800"/>
            <a:ext cx="7315200" cy="10058400"/>
          </a:xfrm>
          <a:prstGeom prst="rect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875520" y="-1828800"/>
            <a:ext cx="7315200" cy="10058400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512064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LANDS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1463040" cy="64008"/>
          </a:xfrm>
          <a:prstGeom prst="roundRect">
            <a:avLst>
              <a:gd name="adj" fmla="val 714286"/>
            </a:avLst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2157984" y="1389888"/>
            <a:ext cx="548640" cy="64008"/>
          </a:xfrm>
          <a:prstGeom prst="roundRect">
            <a:avLst>
              <a:gd name="adj" fmla="val 714286"/>
            </a:avLst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8476488" y="1709928"/>
            <a:ext cx="3163824" cy="4169664"/>
          </a:xfrm>
          <a:prstGeom prst="roundRect">
            <a:avLst>
              <a:gd name="adj" fmla="val 4046"/>
            </a:avLst>
          </a:prstGeom>
          <a:solidFill>
            <a:srgbClr val="334155"/>
          </a:solidFill>
          <a:ln/>
        </p:spPr>
      </p:sp>
      <p:pic>
        <p:nvPicPr>
          <p:cNvPr id="11" name="Image 0" descr="C:\Users\IRSHAD\AppData\Local\Temp\opencode\pptimg\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783080"/>
            <a:ext cx="3017520" cy="4023360"/>
          </a:xfrm>
          <a:prstGeom prst="ellipse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549640" y="1783080"/>
            <a:ext cx="3017520" cy="4023360"/>
          </a:xfrm>
          <a:prstGeom prst="roundRect">
            <a:avLst>
              <a:gd name="adj" fmla="val 3636"/>
            </a:avLst>
          </a:prstGeom>
          <a:solidFill>
            <a:srgbClr val="6366F1">
              <a:alpha val="2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94360" y="1783080"/>
            <a:ext cx="3703320" cy="1481328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1783080"/>
            <a:ext cx="82296" cy="1481328"/>
          </a:xfrm>
          <a:prstGeom prst="roundRect">
            <a:avLst>
              <a:gd name="adj" fmla="val 555556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1920240"/>
            <a:ext cx="32461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 estates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 recovery phrases released to a trusted threshold when the holder passes away.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407408" y="1783080"/>
            <a:ext cx="3703320" cy="1481328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07408" y="1783080"/>
            <a:ext cx="82296" cy="1481328"/>
          </a:xfrm>
          <a:prstGeom prst="roundRect">
            <a:avLst>
              <a:gd name="adj" fmla="val 555556"/>
            </a:avLst>
          </a:prstGeom>
          <a:solidFill>
            <a:srgbClr val="22D3EE"/>
          </a:solidFill>
          <a:ln/>
        </p:spPr>
      </p:sp>
      <p:sp>
        <p:nvSpPr>
          <p:cNvPr id="18" name="Text 15"/>
          <p:cNvSpPr/>
          <p:nvPr/>
        </p:nvSpPr>
        <p:spPr>
          <a:xfrm>
            <a:off x="4681728" y="1920240"/>
            <a:ext cx="32461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secrets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keys &amp; root passwords held by executives — no single insider can act alone.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94360" y="3392424"/>
            <a:ext cx="3703320" cy="1481328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360" y="3392424"/>
            <a:ext cx="82296" cy="1481328"/>
          </a:xfrm>
          <a:prstGeom prst="roundRect">
            <a:avLst>
              <a:gd name="adj" fmla="val 555556"/>
            </a:avLst>
          </a:prstGeom>
          <a:solidFill>
            <a:srgbClr val="34D399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3529584"/>
            <a:ext cx="32461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 access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read of patient credentials when the patient cannot authorise.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407408" y="3392424"/>
            <a:ext cx="3703320" cy="1481328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07408" y="3392424"/>
            <a:ext cx="82296" cy="1481328"/>
          </a:xfrm>
          <a:prstGeom prst="roundRect">
            <a:avLst>
              <a:gd name="adj" fmla="val 555556"/>
            </a:avLst>
          </a:prstGeom>
          <a:solidFill>
            <a:srgbClr val="FBBF24"/>
          </a:solidFill>
          <a:ln/>
        </p:spPr>
      </p:sp>
      <p:sp>
        <p:nvSpPr>
          <p:cNvPr id="24" name="Text 21"/>
          <p:cNvSpPr/>
          <p:nvPr/>
        </p:nvSpPr>
        <p:spPr>
          <a:xfrm>
            <a:off x="4681728" y="3529584"/>
            <a:ext cx="32461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escrow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Wills, NDAs, trade secrets with automatic release conditions.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94360" y="5001768"/>
            <a:ext cx="3703320" cy="1481328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5001768"/>
            <a:ext cx="82296" cy="1481328"/>
          </a:xfrm>
          <a:prstGeom prst="roundRect">
            <a:avLst>
              <a:gd name="adj" fmla="val 555556"/>
            </a:avLst>
          </a:prstGeom>
          <a:solidFill>
            <a:srgbClr val="8B5CF6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138928"/>
            <a:ext cx="32461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 proof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Tamper-proof timestamps for academic &amp; research records.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407408" y="5001768"/>
            <a:ext cx="3703320" cy="1481328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07408" y="5001768"/>
            <a:ext cx="82296" cy="1481328"/>
          </a:xfrm>
          <a:prstGeom prst="roundRect">
            <a:avLst>
              <a:gd name="adj" fmla="val 555556"/>
            </a:avLst>
          </a:prstGeom>
          <a:solidFill>
            <a:srgbClr val="FB7185"/>
          </a:solidFill>
          <a:ln/>
        </p:spPr>
      </p:sp>
      <p:sp>
        <p:nvSpPr>
          <p:cNvPr id="30" name="Text 27"/>
          <p:cNvSpPr/>
          <p:nvPr/>
        </p:nvSpPr>
        <p:spPr>
          <a:xfrm>
            <a:off x="4681728" y="5138928"/>
            <a:ext cx="32461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integrity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 custody chains that expose counterfeit goods.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94360" y="5897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-1828800" y="-1828800"/>
            <a:ext cx="16459200" cy="3657600"/>
          </a:xfrm>
          <a:prstGeom prst="rect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40000">
            <a:off x="5486400" y="4114800"/>
            <a:ext cx="10972800" cy="4572000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kern="0" spc="200" dirty="0">
                <a:solidFill>
                  <a:srgbClr val="A5B4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Secret Vault that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Outlives its owner  ·  Unlocks by consensus  ·  and erases itself after use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041648" y="2697480"/>
            <a:ext cx="4114800" cy="36576"/>
          </a:xfrm>
          <a:prstGeom prst="roundRect">
            <a:avLst>
              <a:gd name="adj" fmla="val 1250000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803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feedback welcome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27048" y="5212080"/>
            <a:ext cx="914400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534924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TYCS24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5669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Imran Khan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5989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Lead · Backend &amp; Blockchain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69080" y="534924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TYCS29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9080" y="5669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Danish Lakhani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5989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&amp; Cryptography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55080" y="534924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TYCS38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5669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Shubham Rathod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5989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&amp; Integration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41080" y="534924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TYCS44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41080" y="5669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Mohd Muzzamil Shaikh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5989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&amp; Documentation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1424</Words>
  <Application>Microsoft Office PowerPoint</Application>
  <PresentationFormat>Widescreen</PresentationFormat>
  <Paragraphs>210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realredpanda7@gmail.com</cp:lastModifiedBy>
  <cp:revision>1</cp:revision>
  <dcterms:created xsi:type="dcterms:W3CDTF">2026-09-17T19:02:37Z</dcterms:created>
  <dcterms:modified xsi:type="dcterms:W3CDTF">2026-09-17T21:00:30Z</dcterms:modified>
</cp:coreProperties>
</file>